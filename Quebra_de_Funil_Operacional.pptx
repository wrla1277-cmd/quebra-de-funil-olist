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792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715500" cy="51435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28650" y="1998185"/>
            <a:ext cx="6302573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0F6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Quebra de Funil Operacional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28650" y="2805122"/>
            <a:ext cx="596324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Vendas vs. Logística — Case de Análise de Dados Olist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28650" y="3539142"/>
            <a:ext cx="1743075" cy="283964"/>
          </a:xfrm>
          <a:prstGeom prst="roundRect">
            <a:avLst/>
          </a:prstGeom>
          <a:solidFill>
            <a:srgbClr val="58A6FF">
              <a:alpha val="10000"/>
            </a:srgbClr>
          </a:solidFill>
          <a:ln w="9144">
            <a:solidFill>
              <a:srgbClr val="58A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608794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0113" y="3596292"/>
            <a:ext cx="1314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Intelligence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643188" y="3539142"/>
            <a:ext cx="1373386" cy="283964"/>
          </a:xfrm>
          <a:prstGeom prst="roundRect">
            <a:avLst/>
          </a:prstGeom>
          <a:solidFill>
            <a:srgbClr val="58A6FF">
              <a:alpha val="10000"/>
            </a:srgbClr>
          </a:solidFill>
          <a:ln w="9144">
            <a:solidFill>
              <a:srgbClr val="58A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6063" y="3615937"/>
            <a:ext cx="112514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98577" y="3603436"/>
            <a:ext cx="9608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Executivo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81769"/>
            <a:ext cx="82296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0F6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 Problema: Vender muito não adianta se a operação trava na ponta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457200" y="1380083"/>
            <a:ext cx="5438766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crescimento acelerado das vendas no e-commerce frequentemente mascara gargalos operacionais críticos.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57200" y="2100151"/>
            <a:ext cx="5438766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desconexão entre o esforço comercial e a capacidade logística gera uma </a:t>
            </a:r>
            <a:r>
              <a:rPr lang="en-US" sz="1200" b="1" dirty="0">
                <a:solidFill>
                  <a:srgbClr val="8B949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"dívida de experiência com o cliente"</a:t>
            </a:r>
            <a:r>
              <a:rPr lang="en-US" sz="12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compromete a receita e a reputação da marca.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3194540"/>
            <a:ext cx="1935956" cy="287536"/>
          </a:xfrm>
          <a:prstGeom prst="roundRect">
            <a:avLst/>
          </a:prstGeom>
          <a:solidFill>
            <a:srgbClr val="F39C12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57200" y="3194540"/>
            <a:ext cx="1935956" cy="287536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39C1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Risco de Churn Elevado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11028" y="3194540"/>
            <a:ext cx="1587698" cy="287536"/>
          </a:xfrm>
          <a:prstGeom prst="roundRect">
            <a:avLst/>
          </a:prstGeom>
          <a:solidFill>
            <a:srgbClr val="F39C12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511028" y="3194540"/>
            <a:ext cx="1587698" cy="287536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39C1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Erosão de Margem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38841" y="1208633"/>
            <a:ext cx="2647931" cy="17145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038841" y="1208633"/>
            <a:ext cx="2647931" cy="28575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210291" y="1380083"/>
            <a:ext cx="2305031" cy="1400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"Escalar vendas sem escalar operações não é crescimento — é acumular passivo de marca."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540399"/>
            <a:ext cx="71437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600" dirty="0">
                <a:solidFill>
                  <a:srgbClr val="F0F6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Como a performance operacional impacta a receita e a satisfação do cliente?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714500" y="2706226"/>
            <a:ext cx="57150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Identificando os principais pontos de falha que exigem atenção imediata para proteger a saúde financeira e a marca.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2094905" y="3654893"/>
            <a:ext cx="1394817" cy="298252"/>
          </a:xfrm>
          <a:prstGeom prst="roundRect">
            <a:avLst/>
          </a:prstGeom>
          <a:solidFill>
            <a:srgbClr val="58A6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2094905" y="3654893"/>
            <a:ext cx="1394817" cy="298252"/>
          </a:xfrm>
          <a:prstGeom prst="rect">
            <a:avLst/>
          </a:prstGeom>
          <a:noFill/>
          <a:ln/>
        </p:spPr>
        <p:txBody>
          <a:bodyPr wrap="square" lIns="204089" tIns="85090" rIns="204089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8A6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Receita em Risco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632597" y="3654893"/>
            <a:ext cx="1557338" cy="298252"/>
          </a:xfrm>
          <a:prstGeom prst="roundRect">
            <a:avLst/>
          </a:prstGeom>
          <a:solidFill>
            <a:srgbClr val="58A6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632597" y="3654893"/>
            <a:ext cx="1557338" cy="298252"/>
          </a:xfrm>
          <a:prstGeom prst="rect">
            <a:avLst/>
          </a:prstGeom>
          <a:noFill/>
          <a:ln/>
        </p:spPr>
        <p:txBody>
          <a:bodyPr wrap="square" lIns="204089" tIns="85090" rIns="204089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8A6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Gargalos Logísticos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332809" y="3654893"/>
            <a:ext cx="1716286" cy="298252"/>
          </a:xfrm>
          <a:prstGeom prst="roundRect">
            <a:avLst/>
          </a:prstGeom>
          <a:solidFill>
            <a:srgbClr val="58A6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332809" y="3654893"/>
            <a:ext cx="1716286" cy="298252"/>
          </a:xfrm>
          <a:prstGeom prst="rect">
            <a:avLst/>
          </a:prstGeom>
          <a:noFill/>
          <a:ln/>
        </p:spPr>
        <p:txBody>
          <a:bodyPr wrap="square" lIns="204089" tIns="85090" rIns="204089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8A6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Experiência do Cliente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001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0F6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Metodologia e Stack Técnica de BI</a:t>
            </a:r>
            <a:endParaRPr lang="en-US" sz="1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12218"/>
            <a:ext cx="125016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2241" y="1297037"/>
            <a:ext cx="49827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1366242" y="1294358"/>
            <a:ext cx="401836" cy="178594"/>
          </a:xfrm>
          <a:prstGeom prst="roundRect">
            <a:avLst/>
          </a:prstGeom>
          <a:solidFill>
            <a:srgbClr val="58A6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1366242" y="1294358"/>
            <a:ext cx="401836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8A6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Core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571500" y="1587252"/>
            <a:ext cx="25146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Linguagem base para processamento, limpeza e análise estatística dos dados transacionais.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1312218"/>
            <a:ext cx="125016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25441" y="1297037"/>
            <a:ext cx="45898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SQLite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4070152" y="1294358"/>
            <a:ext cx="546497" cy="178594"/>
          </a:xfrm>
          <a:prstGeom prst="roundRect">
            <a:avLst/>
          </a:prstGeom>
          <a:solidFill>
            <a:srgbClr val="58A6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7"/>
          <p:cNvSpPr/>
          <p:nvPr/>
        </p:nvSpPr>
        <p:spPr>
          <a:xfrm>
            <a:off x="4070152" y="1294358"/>
            <a:ext cx="546497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8A6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Storage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3314700" y="1587252"/>
            <a:ext cx="25146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de dados relacional para armazenamento estruturado de pedidos e status operacionais.</a:t>
            </a:r>
            <a:endParaRPr lang="en-US" sz="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0" y="1312218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86500" y="1297037"/>
            <a:ext cx="5143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Pandas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6886575" y="1294358"/>
            <a:ext cx="575072" cy="178594"/>
          </a:xfrm>
          <a:prstGeom prst="roundRect">
            <a:avLst/>
          </a:prstGeom>
          <a:solidFill>
            <a:srgbClr val="58A6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1"/>
          <p:cNvSpPr/>
          <p:nvPr/>
        </p:nvSpPr>
        <p:spPr>
          <a:xfrm>
            <a:off x="6886575" y="1294358"/>
            <a:ext cx="575072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8A6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Analysis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6057900" y="1587252"/>
            <a:ext cx="2514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Manipulação de DataFrames para cálculo de KPIs e transformações complexas de funil.</a:t>
            </a:r>
            <a:endParaRPr lang="en-US" sz="8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633811"/>
            <a:ext cx="160734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17959" y="2618631"/>
            <a:ext cx="6304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1534120" y="2615952"/>
            <a:ext cx="600075" cy="178594"/>
          </a:xfrm>
          <a:prstGeom prst="roundRect">
            <a:avLst/>
          </a:prstGeom>
          <a:solidFill>
            <a:srgbClr val="58A6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5"/>
          <p:cNvSpPr/>
          <p:nvPr/>
        </p:nvSpPr>
        <p:spPr>
          <a:xfrm>
            <a:off x="1534120" y="2615952"/>
            <a:ext cx="600075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8A6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Interface</a:t>
            </a:r>
            <a:endParaRPr lang="en-US" sz="750" dirty="0"/>
          </a:p>
        </p:txBody>
      </p:sp>
      <p:sp>
        <p:nvSpPr>
          <p:cNvPr id="23" name="Text 16"/>
          <p:cNvSpPr/>
          <p:nvPr/>
        </p:nvSpPr>
        <p:spPr>
          <a:xfrm>
            <a:off x="571500" y="2908846"/>
            <a:ext cx="2514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para construção do dashboard interativo e visualização em tempo real.</a:t>
            </a:r>
            <a:endParaRPr lang="en-US" sz="8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4700" y="2633811"/>
            <a:ext cx="160734" cy="14287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561159" y="2618631"/>
            <a:ext cx="39826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Plotly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4045148" y="2615952"/>
            <a:ext cx="323255" cy="178594"/>
          </a:xfrm>
          <a:prstGeom prst="roundRect">
            <a:avLst/>
          </a:prstGeom>
          <a:solidFill>
            <a:srgbClr val="58A6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19"/>
          <p:cNvSpPr/>
          <p:nvPr/>
        </p:nvSpPr>
        <p:spPr>
          <a:xfrm>
            <a:off x="4045148" y="2615952"/>
            <a:ext cx="323255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8A6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Viz</a:t>
            </a:r>
            <a:endParaRPr lang="en-US" sz="750" dirty="0"/>
          </a:p>
        </p:txBody>
      </p:sp>
      <p:sp>
        <p:nvSpPr>
          <p:cNvPr id="28" name="Text 20"/>
          <p:cNvSpPr/>
          <p:nvPr/>
        </p:nvSpPr>
        <p:spPr>
          <a:xfrm>
            <a:off x="3314700" y="2908846"/>
            <a:ext cx="2514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Criação de gráficos dinâmicos e interativos (Funil, Waterfall, Scatter) de alta fidelidade.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571500" y="4359027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0F6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Abordagem:</a:t>
            </a:r>
            <a:r>
              <a:rPr lang="en-US" sz="9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Extração de dados históricos (2016-2018), modelagem de status de entrega e cálculo de erosão financeira por atraso.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81769"/>
            <a:ext cx="82867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0F6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Visão Geral dos KPIs Operacionais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428625" y="1380083"/>
            <a:ext cx="2261555" cy="246459"/>
          </a:xfrm>
          <a:prstGeom prst="rect">
            <a:avLst/>
          </a:prstGeom>
          <a:noFill/>
          <a:ln/>
        </p:spPr>
        <p:txBody>
          <a:bodyPr wrap="square" lIns="8509" tIns="8509" rIns="8509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B949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INDICADOR DE PERFORMANCE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2690180" y="1380083"/>
            <a:ext cx="1080576" cy="246459"/>
          </a:xfrm>
          <a:prstGeom prst="rect">
            <a:avLst/>
          </a:prstGeom>
          <a:noFill/>
          <a:ln/>
        </p:spPr>
        <p:txBody>
          <a:bodyPr wrap="none" lIns="8509" tIns="8509" rIns="8509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B949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VALOR REAL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770756" y="1380083"/>
            <a:ext cx="686944" cy="246459"/>
          </a:xfrm>
          <a:prstGeom prst="rect">
            <a:avLst/>
          </a:prstGeom>
          <a:noFill/>
          <a:ln/>
        </p:spPr>
        <p:txBody>
          <a:bodyPr wrap="none" lIns="8509" tIns="8509" rIns="8509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B949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STATUS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28625" y="1626543"/>
            <a:ext cx="2261555" cy="482203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0F6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Receita Total Vendida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690180" y="1626543"/>
            <a:ext cx="1080576" cy="482203"/>
          </a:xfrm>
          <a:prstGeom prst="rect">
            <a:avLst/>
          </a:prstGeom>
          <a:noFill/>
          <a:ln/>
        </p:spPr>
        <p:txBody>
          <a:bodyPr wrap="none" lIns="8509" tIns="170053" rIns="8509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R$ 15,8M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770756" y="1626543"/>
            <a:ext cx="686944" cy="482203"/>
          </a:xfrm>
          <a:prstGeom prst="rect">
            <a:avLst/>
          </a:prstGeom>
          <a:noFill/>
          <a:ln/>
        </p:spPr>
        <p:txBody>
          <a:bodyPr wrap="none" lIns="8509" tIns="170053" rIns="8509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8625" y="2108746"/>
            <a:ext cx="2261555" cy="482203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0F6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Entregue no Prazo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690180" y="2108746"/>
            <a:ext cx="1080576" cy="482203"/>
          </a:xfrm>
          <a:prstGeom prst="rect">
            <a:avLst/>
          </a:prstGeom>
          <a:noFill/>
          <a:ln/>
        </p:spPr>
        <p:txBody>
          <a:bodyPr wrap="none" lIns="8509" tIns="170053" rIns="8509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R$ 14,0M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77900" y="2268587"/>
            <a:ext cx="450056" cy="162520"/>
          </a:xfrm>
          <a:prstGeom prst="roundRect">
            <a:avLst/>
          </a:prstGeom>
          <a:solidFill>
            <a:srgbClr val="2ECC71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777900" y="2268587"/>
            <a:ext cx="450056" cy="16252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2ECC7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88,8%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428625" y="2590949"/>
            <a:ext cx="2261555" cy="482203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0F6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Receita Comprometida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90180" y="2590949"/>
            <a:ext cx="1080576" cy="482203"/>
          </a:xfrm>
          <a:prstGeom prst="rect">
            <a:avLst/>
          </a:prstGeom>
          <a:noFill/>
          <a:ln/>
        </p:spPr>
        <p:txBody>
          <a:bodyPr wrap="none" lIns="8509" tIns="170053" rIns="8509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R$ 1,45M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77900" y="2750790"/>
            <a:ext cx="394692" cy="162520"/>
          </a:xfrm>
          <a:prstGeom prst="roundRect">
            <a:avLst/>
          </a:prstGeom>
          <a:solidFill>
            <a:srgbClr val="F39C12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3777900" y="2750790"/>
            <a:ext cx="394692" cy="16252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F39C1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9,2%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28625" y="3073152"/>
            <a:ext cx="2261555" cy="482203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0F6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Receita Perdida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690180" y="3073152"/>
            <a:ext cx="1080576" cy="482203"/>
          </a:xfrm>
          <a:prstGeom prst="rect">
            <a:avLst/>
          </a:prstGeom>
          <a:noFill/>
          <a:ln/>
        </p:spPr>
        <p:txBody>
          <a:bodyPr wrap="none" lIns="8509" tIns="170053" rIns="8509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R$ 108K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777900" y="3232993"/>
            <a:ext cx="391120" cy="162520"/>
          </a:xfrm>
          <a:prstGeom prst="roundRect">
            <a:avLst/>
          </a:prstGeom>
          <a:solidFill>
            <a:srgbClr val="E74C3C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3777900" y="3232993"/>
            <a:ext cx="391120" cy="16252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E74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0,7%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28625" y="3844677"/>
            <a:ext cx="402907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B949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Período da Análise:</a:t>
            </a: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Setembro de 2016 a Outubro de 2018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622006" y="3792885"/>
            <a:ext cx="4157663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Visualização Real do Dashboard Operacional</a:t>
            </a:r>
            <a:endParaRPr lang="en-US" sz="600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348774E-2851-C59E-32A4-609276E4D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920" y="1712952"/>
            <a:ext cx="4232968" cy="17559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581769"/>
            <a:ext cx="84582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0F6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 Funil: Da Venda à Entrega Realizada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28650" y="1558677"/>
            <a:ext cx="310513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Realizados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8650" y="1742629"/>
            <a:ext cx="71616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99.436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30536" y="1797993"/>
            <a:ext cx="37861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39C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8650" y="2278410"/>
            <a:ext cx="310513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Entregue no Prazo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8650" y="2462361"/>
            <a:ext cx="70723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88.636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21606" y="2517725"/>
            <a:ext cx="31968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39C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89%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8650" y="2998143"/>
            <a:ext cx="310513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com Atraso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28650" y="3182094"/>
            <a:ext cx="53399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7.825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48370" y="3237458"/>
            <a:ext cx="23038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39C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8%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28650" y="3717875"/>
            <a:ext cx="310513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Cancelado / Indisponível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28650" y="3901827"/>
            <a:ext cx="5429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1.234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57300" y="3957191"/>
            <a:ext cx="2000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39C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1%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42900" y="4487614"/>
            <a:ext cx="2271713" cy="251817"/>
          </a:xfrm>
          <a:prstGeom prst="roundRect">
            <a:avLst/>
          </a:prstGeom>
          <a:solidFill>
            <a:srgbClr val="F39C12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342900" y="4487614"/>
            <a:ext cx="2271713" cy="251817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39C1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Erosão de 11% entre Venda e Entrega</a:t>
            </a:r>
            <a:endParaRPr lang="en-US" sz="800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5E62DFA2-132D-92DE-4074-EA06B73D0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804" y="1182885"/>
            <a:ext cx="4052296" cy="34306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81769"/>
            <a:ext cx="82867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0F6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Distribuição de Receita por Status Operacional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428625" y="1237208"/>
            <a:ext cx="32861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Entregue no Prazo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28625" y="1449735"/>
            <a:ext cx="328612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R$ 14.026.093,40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8625" y="1783705"/>
            <a:ext cx="964406" cy="207169"/>
          </a:xfrm>
          <a:prstGeom prst="roundRect">
            <a:avLst/>
          </a:prstGeom>
          <a:solidFill>
            <a:srgbClr val="2ECC71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28625" y="1783705"/>
            <a:ext cx="964406" cy="207169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ECC7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88,8% do Total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28625" y="2219474"/>
            <a:ext cx="32861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Comprometida (Atrasos)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8625" y="2432000"/>
            <a:ext cx="328612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R$ 1.452.728,96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8625" y="2765971"/>
            <a:ext cx="951905" cy="207169"/>
          </a:xfrm>
          <a:prstGeom prst="roundRect">
            <a:avLst/>
          </a:prstGeom>
          <a:solidFill>
            <a:srgbClr val="F39C12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28625" y="2765971"/>
            <a:ext cx="951905" cy="207169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39C1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9,2% em Risco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28625" y="3201739"/>
            <a:ext cx="32861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Perdida (Cancelados)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28625" y="3414266"/>
            <a:ext cx="328612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R$ 108.026,21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8625" y="3748236"/>
            <a:ext cx="1253728" cy="207169"/>
          </a:xfrm>
          <a:prstGeom prst="roundRect">
            <a:avLst/>
          </a:prstGeom>
          <a:solidFill>
            <a:srgbClr val="E74C3C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28625" y="3748236"/>
            <a:ext cx="1253728" cy="207169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E74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0,7% de Perda Direta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921919" y="4221510"/>
            <a:ext cx="487203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Visualização: Distribuição Financeira e Status de Pedidos</a:t>
            </a:r>
            <a:endParaRPr lang="en-US" sz="750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EFAB5E3D-10B4-8D58-8EC8-7C8A56A8E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117" y="1118643"/>
            <a:ext cx="3271642" cy="29074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81769"/>
            <a:ext cx="82867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0F6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Matriz de Impacto: Risco em Pedidos High-Ticket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428625" y="1237208"/>
            <a:ext cx="25717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HIGH-TICKET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28625" y="1431875"/>
            <a:ext cx="257175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9C1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97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28625" y="1830139"/>
            <a:ext cx="1073348" cy="207169"/>
          </a:xfrm>
          <a:prstGeom prst="roundRect">
            <a:avLst/>
          </a:prstGeom>
          <a:solidFill>
            <a:srgbClr val="F39C12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28625" y="1830139"/>
            <a:ext cx="1073348" cy="207169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39C1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Segmento Crítico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28625" y="2323058"/>
            <a:ext cx="25717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EM RISCO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28625" y="2517725"/>
            <a:ext cx="257175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9C1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R$ 41.114,24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28625" y="2915989"/>
            <a:ext cx="1164431" cy="207169"/>
          </a:xfrm>
          <a:prstGeom prst="roundRect">
            <a:avLst/>
          </a:prstGeom>
          <a:solidFill>
            <a:srgbClr val="F39C12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28625" y="2915989"/>
            <a:ext cx="1164431" cy="207169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39C1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Impacto Financeiro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28625" y="3408908"/>
            <a:ext cx="25717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ATRASO MÉDIO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28625" y="3603575"/>
            <a:ext cx="257175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9C1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9,8 dias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28625" y="4001839"/>
            <a:ext cx="1276945" cy="207169"/>
          </a:xfrm>
          <a:prstGeom prst="roundRect">
            <a:avLst/>
          </a:prstGeom>
          <a:solidFill>
            <a:srgbClr val="F39C12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28625" y="4001839"/>
            <a:ext cx="1276945" cy="207169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39C1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Dívida de Experiência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207544" y="4364385"/>
            <a:ext cx="55864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 Plot: Valor do Pedido vs. Dias de Atraso</a:t>
            </a:r>
            <a:endParaRPr lang="en-US" sz="750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81207079-D2E1-22BC-263B-1BEB72866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7805" y="1145736"/>
            <a:ext cx="5497570" cy="31931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81769"/>
            <a:ext cx="82867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0F6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Cascata de Erosão: O Caminho do Dinheiro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428625" y="1358652"/>
            <a:ext cx="32861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Venda Bruta (Comercial)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28625" y="1571179"/>
            <a:ext cx="328612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R$ 15.795.954,56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8625" y="1905149"/>
            <a:ext cx="1092994" cy="207169"/>
          </a:xfrm>
          <a:prstGeom prst="roundRect">
            <a:avLst/>
          </a:prstGeom>
          <a:solidFill>
            <a:srgbClr val="58A6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28625" y="1905149"/>
            <a:ext cx="1092994" cy="207169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Potencial Máximo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28625" y="2462361"/>
            <a:ext cx="32861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Erosão Operacional Total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8625" y="2674888"/>
            <a:ext cx="328612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R$ 1.452.728,96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8625" y="3008858"/>
            <a:ext cx="1294805" cy="207169"/>
          </a:xfrm>
          <a:prstGeom prst="roundRect">
            <a:avLst/>
          </a:prstGeom>
          <a:solidFill>
            <a:srgbClr val="E74C3C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28625" y="3008858"/>
            <a:ext cx="1294805" cy="207169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E74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9,2% "Virou Fumaça"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28625" y="3566071"/>
            <a:ext cx="32861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Líquida Saudável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28625" y="3778597"/>
            <a:ext cx="328612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R$ 14.026.093,40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8625" y="4112568"/>
            <a:ext cx="1271588" cy="207169"/>
          </a:xfrm>
          <a:prstGeom prst="roundRect">
            <a:avLst/>
          </a:prstGeom>
          <a:solidFill>
            <a:srgbClr val="58A6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28625" y="4112568"/>
            <a:ext cx="1271588" cy="207169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Aproveitamento Final</a:t>
            </a:r>
            <a:endParaRPr lang="en-US" sz="7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1919" y="1237208"/>
            <a:ext cx="4872038" cy="28717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21919" y="4221510"/>
            <a:ext cx="487203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Visualização: Impacto das Falhas Logísticas na Receita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81769"/>
            <a:ext cx="82867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0F6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Gargalos Regionais: Onde a Logística Falha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428625" y="1358652"/>
            <a:ext cx="93404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Alagoas (AL)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419820" y="1385441"/>
            <a:ext cx="451842" cy="162520"/>
          </a:xfrm>
          <a:prstGeom prst="roundRect">
            <a:avLst/>
          </a:prstGeom>
          <a:solidFill>
            <a:srgbClr val="E74C3C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419820" y="1385441"/>
            <a:ext cx="451842" cy="16252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E74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Crítico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428625" y="1662261"/>
            <a:ext cx="3286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Lidera o ranking de ineficiência com </a:t>
            </a:r>
            <a:r>
              <a:rPr lang="en-US" sz="800" b="1" dirty="0">
                <a:solidFill>
                  <a:srgbClr val="8B949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~19%</a:t>
            </a: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pedidos com problemas operacionais.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8625" y="2275173"/>
            <a:ext cx="13412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Rio de Janeiro (RJ)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827014" y="2301962"/>
            <a:ext cx="430411" cy="162520"/>
          </a:xfrm>
          <a:prstGeom prst="roundRect">
            <a:avLst/>
          </a:prstGeom>
          <a:solidFill>
            <a:srgbClr val="E74C3C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827014" y="2301962"/>
            <a:ext cx="430411" cy="16252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E74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Alerta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28625" y="2578782"/>
            <a:ext cx="3286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8B949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14%</a:t>
            </a: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problemas em uma base de 12.852 pedidos. Complexidade logística elevada.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28625" y="3191694"/>
            <a:ext cx="10465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São Paulo (SP)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532334" y="3218483"/>
            <a:ext cx="489347" cy="162520"/>
          </a:xfrm>
          <a:prstGeom prst="roundRect">
            <a:avLst/>
          </a:prstGeom>
          <a:solidFill>
            <a:srgbClr val="F39C12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1532334" y="3218483"/>
            <a:ext cx="489347" cy="16252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F39C1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Volume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428625" y="3495303"/>
            <a:ext cx="3286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Apenas </a:t>
            </a:r>
            <a:r>
              <a:rPr lang="en-US" sz="800" b="1" dirty="0">
                <a:solidFill>
                  <a:srgbClr val="8B949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7%</a:t>
            </a: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problemas, mas concentra 41.746 pedidos. O maior impacto absoluto em receita.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28625" y="4043921"/>
            <a:ext cx="3286125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comercial vende para regiões onde a malha logística não acompanha a demanda.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921919" y="4364385"/>
            <a:ext cx="4872038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Ranking de Problemas por UF e Dispersão Volume x Taxa</a:t>
            </a:r>
            <a:endParaRPr lang="en-US" sz="600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105C3011-C260-2474-1DA5-D556C51A6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724" y="986598"/>
            <a:ext cx="3500751" cy="33446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81769"/>
            <a:ext cx="82867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0F6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Evolução Mensal da Performance Operacional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428625" y="1237208"/>
            <a:ext cx="25717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Tendências Temporais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28625" y="1506885"/>
            <a:ext cx="25717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análise da linha do tempo permite identificar picos de instabilidade operacional e períodos de melhoria na eficiência de entrega.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28625" y="2284075"/>
            <a:ext cx="1518047" cy="207169"/>
          </a:xfrm>
          <a:prstGeom prst="roundRect">
            <a:avLst/>
          </a:prstGeom>
          <a:solidFill>
            <a:srgbClr val="58A6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28625" y="2284075"/>
            <a:ext cx="1518047" cy="207169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Monitoramento 2016-2018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28625" y="2719843"/>
            <a:ext cx="25717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Sazonalidade e Impacto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28625" y="2989520"/>
            <a:ext cx="25717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Flutuações no volume de vendas impactam diretamente a taxa de atrasos, revelando a elasticidade da malha logística.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207544" y="4578697"/>
            <a:ext cx="55864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Visualização: Evolução Mensal de Status e Taxa de Problemas</a:t>
            </a:r>
            <a:endParaRPr lang="en-US" sz="75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D6ADD86B-CC76-C88D-BE38-97722CAF1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159231"/>
            <a:ext cx="5562903" cy="2345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001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0F6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Conclusão e Insight de Diretoria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1508671"/>
            <a:ext cx="8001000" cy="1080102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"Uma empresa que escala vendas sem escalar operações não está crescendo — está acumulando dívidas de experiência com o cliente."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71500" y="3531747"/>
            <a:ext cx="523874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análise dos dados da Olist revela um cenário clássico de desalinhamento entre a capacidade comercial e a eficiência operacional. Apesar do faturamento robusto, a erosão de </a:t>
            </a:r>
            <a:r>
              <a:rPr lang="en-US" sz="1000" b="1" dirty="0">
                <a:solidFill>
                  <a:srgbClr val="8B949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R$ 1,45M</a:t>
            </a:r>
            <a:r>
              <a:rPr lang="en-US" sz="10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receita comprometida demonstra que o custo da ineficiência logística é direto e mensurável.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1500" y="4817622"/>
            <a:ext cx="2607469" cy="320018"/>
          </a:xfrm>
          <a:prstGeom prst="rect">
            <a:avLst/>
          </a:prstGeom>
          <a:solidFill>
            <a:srgbClr val="F39C12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71500" y="4817622"/>
            <a:ext cx="2607469" cy="320018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F39C1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Foco Estratégico: Eficiência na Ponta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95991" y="3388872"/>
            <a:ext cx="2476509" cy="174876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095991" y="3388872"/>
            <a:ext cx="2476509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324591" y="3617472"/>
            <a:ext cx="201930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0F6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PRINCIPAIS DESCOBERTAS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24591" y="3887149"/>
            <a:ext cx="64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74609" y="3887149"/>
            <a:ext cx="186929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9,2% da receita total está sob risco operacional.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324591" y="4247908"/>
            <a:ext cx="64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74609" y="4247908"/>
            <a:ext cx="186929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High-Ticket sofrem atrasos críticos de ~10 dias.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324591" y="4608668"/>
            <a:ext cx="642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474609" y="4608668"/>
            <a:ext cx="186929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Gargalos regionais severos em AL, RJ e SP.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001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0F6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Recomendações Estratégicas e Próximos Passos</a:t>
            </a:r>
            <a:endParaRPr lang="en-US" sz="1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12218"/>
            <a:ext cx="160734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7959" y="1297037"/>
            <a:ext cx="14323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Otimização Regional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2336006" y="1294358"/>
            <a:ext cx="605433" cy="178594"/>
          </a:xfrm>
          <a:prstGeom prst="roundRect">
            <a:avLst/>
          </a:prstGeom>
          <a:solidFill>
            <a:srgbClr val="58A6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2336006" y="1294358"/>
            <a:ext cx="605433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8A6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Logística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571500" y="1587252"/>
            <a:ext cx="38862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Focar em melhorias operacionais nas UFs críticas (AL, RJ) e de alto volume (SP).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571500" y="2067278"/>
            <a:ext cx="3886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Revisão de parceiros logísticos em Alagoas.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71500" y="2253016"/>
            <a:ext cx="3886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 de hubs avançados em São Paulo.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1312218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4900" y="1297037"/>
            <a:ext cx="13448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Gestão High-Ticket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345436" y="1294358"/>
            <a:ext cx="432197" cy="178594"/>
          </a:xfrm>
          <a:prstGeom prst="roundRect">
            <a:avLst/>
          </a:prstGeom>
          <a:solidFill>
            <a:srgbClr val="58A6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9"/>
          <p:cNvSpPr/>
          <p:nvPr/>
        </p:nvSpPr>
        <p:spPr>
          <a:xfrm>
            <a:off x="6345436" y="1294358"/>
            <a:ext cx="432197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8A6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Risco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4686300" y="1587252"/>
            <a:ext cx="38862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 especial para pedidos de alto valor para evitar churn de clientes rentáveis.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4686300" y="2067278"/>
            <a:ext cx="3886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White-glove service para pedidos acima de R$ 1.000.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4686300" y="2253016"/>
            <a:ext cx="3886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Comunicação proativa em caso de atraso &gt; 2 dias.</a:t>
            </a:r>
            <a:endParaRPr lang="en-US" sz="8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70963"/>
            <a:ext cx="142875" cy="1428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0100" y="2955782"/>
            <a:ext cx="15376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Análise de Causa Raiz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423517" y="2953103"/>
            <a:ext cx="264319" cy="178594"/>
          </a:xfrm>
          <a:prstGeom prst="roundRect">
            <a:avLst/>
          </a:prstGeom>
          <a:solidFill>
            <a:srgbClr val="58A6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5"/>
          <p:cNvSpPr/>
          <p:nvPr/>
        </p:nvSpPr>
        <p:spPr>
          <a:xfrm>
            <a:off x="2423517" y="2953103"/>
            <a:ext cx="264319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8A6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BI</a:t>
            </a:r>
            <a:endParaRPr lang="en-US" sz="750" dirty="0"/>
          </a:p>
        </p:txBody>
      </p:sp>
      <p:sp>
        <p:nvSpPr>
          <p:cNvPr id="22" name="Text 16"/>
          <p:cNvSpPr/>
          <p:nvPr/>
        </p:nvSpPr>
        <p:spPr>
          <a:xfrm>
            <a:off x="571500" y="3245997"/>
            <a:ext cx="38862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Investigar os motivos específicos de cancelamento e atraso por categoria de produto.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571500" y="3726024"/>
            <a:ext cx="3886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Cruzamento de dados de transportadora vs. atraso.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571500" y="3911761"/>
            <a:ext cx="3886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 de satisfação pós-atraso (NPS Operacional).</a:t>
            </a:r>
            <a:endParaRPr lang="en-US" sz="8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300" y="2970963"/>
            <a:ext cx="178594" cy="1428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50619" y="2955782"/>
            <a:ext cx="17948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Alinhamento Vendas-Ops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831211" y="2953103"/>
            <a:ext cx="651867" cy="178594"/>
          </a:xfrm>
          <a:prstGeom prst="roundRect">
            <a:avLst/>
          </a:prstGeom>
          <a:solidFill>
            <a:srgbClr val="58A6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1"/>
          <p:cNvSpPr/>
          <p:nvPr/>
        </p:nvSpPr>
        <p:spPr>
          <a:xfrm>
            <a:off x="6831211" y="2953103"/>
            <a:ext cx="651867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8A6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Estratégia</a:t>
            </a:r>
            <a:endParaRPr lang="en-US" sz="750" dirty="0"/>
          </a:p>
        </p:txBody>
      </p:sp>
      <p:sp>
        <p:nvSpPr>
          <p:cNvPr id="29" name="Text 22"/>
          <p:cNvSpPr/>
          <p:nvPr/>
        </p:nvSpPr>
        <p:spPr>
          <a:xfrm>
            <a:off x="4686300" y="3245997"/>
            <a:ext cx="38862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Garantir que as metas comerciais respeitem a capacidade instalada da logística.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4686300" y="3726024"/>
            <a:ext cx="3886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 dinâmico baseado na carga operacional regional.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4686300" y="3911761"/>
            <a:ext cx="38862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Incentivos comerciais atrelados à entrega no prazo.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71688" y="1370261"/>
            <a:ext cx="500062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0F6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Obrigado!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2071688" y="2095351"/>
            <a:ext cx="50006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Espero que esta análise tenha trazido insights valiosos sobre a importância da eficiência operacional no e-commerce.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2907506" y="2966889"/>
            <a:ext cx="3328988" cy="432197"/>
          </a:xfrm>
          <a:prstGeom prst="roundRect">
            <a:avLst/>
          </a:prstGeom>
          <a:solidFill>
            <a:srgbClr val="58A6FF">
              <a:alpha val="10000"/>
            </a:srgbClr>
          </a:solidFill>
          <a:ln w="9144">
            <a:solidFill>
              <a:srgbClr val="58A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104406"/>
            <a:ext cx="137517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2217" y="3088332"/>
            <a:ext cx="249138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Vamos nos conectar no LinkedIn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2071688" y="3963442"/>
            <a:ext cx="50006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Dados | Business Intelligence | Case Olist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940</Words>
  <Application>Microsoft Office PowerPoint</Application>
  <PresentationFormat>Apresentação na tela (16:9)</PresentationFormat>
  <Paragraphs>166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Inter</vt:lpstr>
      <vt:lpstr>Inter Bold</vt:lpstr>
      <vt:lpstr>Inter Medium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WIlson Jose felix da silva</cp:lastModifiedBy>
  <cp:revision>2</cp:revision>
  <dcterms:created xsi:type="dcterms:W3CDTF">2026-04-21T15:57:46Z</dcterms:created>
  <dcterms:modified xsi:type="dcterms:W3CDTF">2026-04-21T16:17:14Z</dcterms:modified>
</cp:coreProperties>
</file>